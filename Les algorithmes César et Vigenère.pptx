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chitype Aubette" charset="1" panose="02000506030000020004"/>
      <p:regular r:id="rId24"/>
    </p:embeddedFont>
    <p:embeddedFont>
      <p:font typeface="Bernier" charset="1" panose="00000500000000000000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jpeg" Type="http://schemas.openxmlformats.org/officeDocument/2006/relationships/image"/><Relationship Id="rId4" Target="../media/VAHI1_1mqvU.mp4" Type="http://schemas.openxmlformats.org/officeDocument/2006/relationships/video"/><Relationship Id="rId5" Target="../media/VAHI1_1mqvU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7" r="0" b="-773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46956" y="4454278"/>
            <a:ext cx="4562519" cy="5154292"/>
          </a:xfrm>
          <a:custGeom>
            <a:avLst/>
            <a:gdLst/>
            <a:ahLst/>
            <a:cxnLst/>
            <a:rect r="r" b="b" t="t" l="l"/>
            <a:pathLst>
              <a:path h="5154292" w="4562519">
                <a:moveTo>
                  <a:pt x="0" y="0"/>
                </a:moveTo>
                <a:lnTo>
                  <a:pt x="4562519" y="0"/>
                </a:lnTo>
                <a:lnTo>
                  <a:pt x="4562519" y="5154292"/>
                </a:lnTo>
                <a:lnTo>
                  <a:pt x="0" y="5154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59" y="1501533"/>
            <a:ext cx="3923497" cy="3143702"/>
          </a:xfrm>
          <a:custGeom>
            <a:avLst/>
            <a:gdLst/>
            <a:ahLst/>
            <a:cxnLst/>
            <a:rect r="r" b="b" t="t" l="l"/>
            <a:pathLst>
              <a:path h="3143702" w="3923497">
                <a:moveTo>
                  <a:pt x="0" y="0"/>
                </a:moveTo>
                <a:lnTo>
                  <a:pt x="3923497" y="0"/>
                </a:lnTo>
                <a:lnTo>
                  <a:pt x="3923497" y="3143701"/>
                </a:lnTo>
                <a:lnTo>
                  <a:pt x="0" y="3143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34895" y="0"/>
            <a:ext cx="2653105" cy="2145680"/>
          </a:xfrm>
          <a:custGeom>
            <a:avLst/>
            <a:gdLst/>
            <a:ahLst/>
            <a:cxnLst/>
            <a:rect r="r" b="b" t="t" l="l"/>
            <a:pathLst>
              <a:path h="2145680" w="2653105">
                <a:moveTo>
                  <a:pt x="0" y="0"/>
                </a:moveTo>
                <a:lnTo>
                  <a:pt x="2653105" y="0"/>
                </a:lnTo>
                <a:lnTo>
                  <a:pt x="2653105" y="2145680"/>
                </a:lnTo>
                <a:lnTo>
                  <a:pt x="0" y="2145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10081" y="3622253"/>
            <a:ext cx="1241964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Cyber Security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8278" y="4916536"/>
            <a:ext cx="11771443" cy="211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9"/>
              </a:lnSpc>
            </a:pPr>
            <a:r>
              <a:rPr lang="en-US" sz="6092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LES ALGO</a:t>
            </a:r>
            <a:r>
              <a:rPr lang="en-US" sz="6092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RITHMES CÉSAR ET VIGENÈRE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4954" y="7638445"/>
            <a:ext cx="452769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Réalisé par 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ELYAZRI HAJAR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ALAMI HARRAK MAROUA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79163" y="7638445"/>
            <a:ext cx="395573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ENCADRé </a:t>
            </a:r>
            <a:r>
              <a:rPr lang="en-US" sz="33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par : </a:t>
            </a:r>
          </a:p>
          <a:p>
            <a:pPr algn="l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Pr sara oulad chaib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98428" y="9541895"/>
            <a:ext cx="442567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ANNée unoversitaire :  2025 -2026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44910" y="3550666"/>
            <a:ext cx="5052925" cy="4309531"/>
          </a:xfrm>
          <a:custGeom>
            <a:avLst/>
            <a:gdLst/>
            <a:ahLst/>
            <a:cxnLst/>
            <a:rect r="r" b="b" t="t" l="l"/>
            <a:pathLst>
              <a:path h="4309531" w="5052925">
                <a:moveTo>
                  <a:pt x="0" y="0"/>
                </a:moveTo>
                <a:lnTo>
                  <a:pt x="5052924" y="0"/>
                </a:lnTo>
                <a:lnTo>
                  <a:pt x="5052924" y="4309531"/>
                </a:lnTo>
                <a:lnTo>
                  <a:pt x="0" y="430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6072" y="3257337"/>
            <a:ext cx="7751635" cy="1126476"/>
            <a:chOff x="0" y="0"/>
            <a:chExt cx="2041583" cy="296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E9A1EC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734051" indent="-367026" lvl="1">
                <a:lnSpc>
                  <a:spcPts val="4759"/>
                </a:lnSpc>
                <a:spcBef>
                  <a:spcPct val="0"/>
                </a:spcBef>
                <a:buAutoNum type="arabicPeriod" startAt="1"/>
              </a:pPr>
              <a:r>
                <a:rPr lang="en-US" sz="33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Introduction &amp; contexte historique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6072" y="4835701"/>
            <a:ext cx="7751635" cy="1126476"/>
            <a:chOff x="0" y="0"/>
            <a:chExt cx="2041583" cy="296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9275F3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3 .Algo</a:t>
              </a:r>
              <a:r>
                <a:rPr lang="en-US" sz="33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rithme de Vigenère — Principe &amp; formule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35037" y="3257337"/>
            <a:ext cx="7751635" cy="1126476"/>
            <a:chOff x="0" y="0"/>
            <a:chExt cx="2041583" cy="2966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9275F3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2 . Algo</a:t>
              </a:r>
              <a:r>
                <a:rPr lang="en-US" sz="33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rithme de César — Principe &amp; formule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35037" y="4835701"/>
            <a:ext cx="7751635" cy="1126476"/>
            <a:chOff x="0" y="0"/>
            <a:chExt cx="2041583" cy="2966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E9A1EC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4 . A</a:t>
              </a:r>
              <a:r>
                <a:rPr lang="en-US" sz="33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ttaques &amp; failles de sécurité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38037" y="1227436"/>
            <a:ext cx="134666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PLAN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6072" y="6538990"/>
            <a:ext cx="7751635" cy="1126476"/>
            <a:chOff x="0" y="0"/>
            <a:chExt cx="2041583" cy="2966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E9A1EC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5 . IMPLémentation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35037" y="6409853"/>
            <a:ext cx="7751635" cy="1126476"/>
            <a:chOff x="0" y="0"/>
            <a:chExt cx="2041583" cy="2966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1583" cy="296685"/>
            </a:xfrm>
            <a:custGeom>
              <a:avLst/>
              <a:gdLst/>
              <a:ahLst/>
              <a:cxnLst/>
              <a:rect r="r" b="b" t="t" l="l"/>
              <a:pathLst>
                <a:path h="296685" w="2041583">
                  <a:moveTo>
                    <a:pt x="31960" y="0"/>
                  </a:moveTo>
                  <a:lnTo>
                    <a:pt x="2009623" y="0"/>
                  </a:lnTo>
                  <a:cubicBezTo>
                    <a:pt x="2018099" y="0"/>
                    <a:pt x="2026228" y="3367"/>
                    <a:pt x="2032222" y="9361"/>
                  </a:cubicBezTo>
                  <a:cubicBezTo>
                    <a:pt x="2038216" y="15354"/>
                    <a:pt x="2041583" y="23484"/>
                    <a:pt x="2041583" y="31960"/>
                  </a:cubicBezTo>
                  <a:lnTo>
                    <a:pt x="2041583" y="264725"/>
                  </a:lnTo>
                  <a:cubicBezTo>
                    <a:pt x="2041583" y="273202"/>
                    <a:pt x="2038216" y="281331"/>
                    <a:pt x="2032222" y="287324"/>
                  </a:cubicBezTo>
                  <a:cubicBezTo>
                    <a:pt x="2026228" y="293318"/>
                    <a:pt x="2018099" y="296685"/>
                    <a:pt x="2009623" y="296685"/>
                  </a:cubicBezTo>
                  <a:lnTo>
                    <a:pt x="31960" y="296685"/>
                  </a:lnTo>
                  <a:cubicBezTo>
                    <a:pt x="23484" y="296685"/>
                    <a:pt x="15354" y="293318"/>
                    <a:pt x="9361" y="287324"/>
                  </a:cubicBezTo>
                  <a:cubicBezTo>
                    <a:pt x="3367" y="281331"/>
                    <a:pt x="0" y="273202"/>
                    <a:pt x="0" y="264725"/>
                  </a:cubicBezTo>
                  <a:lnTo>
                    <a:pt x="0" y="31960"/>
                  </a:lnTo>
                  <a:cubicBezTo>
                    <a:pt x="0" y="23484"/>
                    <a:pt x="3367" y="15354"/>
                    <a:pt x="9361" y="9361"/>
                  </a:cubicBezTo>
                  <a:cubicBezTo>
                    <a:pt x="15354" y="3367"/>
                    <a:pt x="23484" y="0"/>
                    <a:pt x="31960" y="0"/>
                  </a:cubicBezTo>
                  <a:close/>
                </a:path>
              </a:pathLst>
            </a:custGeom>
            <a:solidFill>
              <a:srgbClr val="9275F3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041583" cy="363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6 . CONCLUSION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186672" y="761784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602" r="0" b="-221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3878" y="2586184"/>
            <a:ext cx="15140244" cy="5582965"/>
          </a:xfrm>
          <a:custGeom>
            <a:avLst/>
            <a:gdLst/>
            <a:ahLst/>
            <a:cxnLst/>
            <a:rect r="r" b="b" t="t" l="l"/>
            <a:pathLst>
              <a:path h="5582965" w="15140244">
                <a:moveTo>
                  <a:pt x="0" y="0"/>
                </a:moveTo>
                <a:lnTo>
                  <a:pt x="15140244" y="0"/>
                </a:lnTo>
                <a:lnTo>
                  <a:pt x="15140244" y="5582965"/>
                </a:lnTo>
                <a:lnTo>
                  <a:pt x="0" y="5582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2147"/>
            <a:ext cx="13557161" cy="93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33"/>
              </a:lnSpc>
            </a:pPr>
            <a:r>
              <a:rPr lang="en-US" sz="5452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INTRODUCTION &amp; CONTEXTE HISTORIQUE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0808" y="1651737"/>
            <a:ext cx="15361688" cy="485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L'algorithme César permet de chiffrer un message en décalant les lettres de l'alphabet selon une clé donnée.</a:t>
            </a:r>
          </a:p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Dans le code de César originel, chaque lettre est remplacée par la lettre qui se situe 3 places après elle dans l'alphabet. Si l'on arrive à Z, on recommence au début.</a:t>
            </a:r>
          </a:p>
          <a:p>
            <a:pPr algn="just">
              <a:lnSpc>
                <a:spcPts val="5505"/>
              </a:lnSpc>
            </a:pPr>
          </a:p>
          <a:p>
            <a:pPr algn="just">
              <a:lnSpc>
                <a:spcPts val="550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98542" y="4823285"/>
            <a:ext cx="10018304" cy="4921492"/>
          </a:xfrm>
          <a:custGeom>
            <a:avLst/>
            <a:gdLst/>
            <a:ahLst/>
            <a:cxnLst/>
            <a:rect r="r" b="b" t="t" l="l"/>
            <a:pathLst>
              <a:path h="4921492" w="10018304">
                <a:moveTo>
                  <a:pt x="0" y="0"/>
                </a:moveTo>
                <a:lnTo>
                  <a:pt x="10018304" y="0"/>
                </a:lnTo>
                <a:lnTo>
                  <a:pt x="10018304" y="4921492"/>
                </a:lnTo>
                <a:lnTo>
                  <a:pt x="0" y="4921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4771" y="544513"/>
            <a:ext cx="1146809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2 . ALG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ORITHME DE CÉSAR — PRINCIPE &amp; FORMULE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084253" y="829596"/>
            <a:ext cx="10889038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3763" y="2525239"/>
            <a:ext cx="6490489" cy="346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EXEMPLE : ROUE DE CESAR</a:t>
            </a:r>
          </a:p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     </a:t>
            </a:r>
            <a:r>
              <a:rPr lang="en-US" sz="3932">
                <a:solidFill>
                  <a:srgbClr val="9275F3"/>
                </a:solidFill>
                <a:latin typeface="Bernier"/>
                <a:ea typeface="Bernier"/>
                <a:cs typeface="Bernier"/>
                <a:sym typeface="Bernier"/>
              </a:rPr>
              <a:t>CLE      :  AF / 5</a:t>
            </a:r>
          </a:p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 </a:t>
            </a: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B      O     N     J     O     U     R </a:t>
            </a:r>
          </a:p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 </a:t>
            </a:r>
            <a:r>
              <a:rPr lang="en-US" sz="3932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|       |      |      |       |      |      |</a:t>
            </a:r>
          </a:p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 G      T     S     O      T     Z     W      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492" y="851718"/>
            <a:ext cx="10128079" cy="6481971"/>
          </a:xfrm>
          <a:custGeom>
            <a:avLst/>
            <a:gdLst/>
            <a:ahLst/>
            <a:cxnLst/>
            <a:rect r="r" b="b" t="t" l="l"/>
            <a:pathLst>
              <a:path h="6481971" w="10128079">
                <a:moveTo>
                  <a:pt x="0" y="0"/>
                </a:moveTo>
                <a:lnTo>
                  <a:pt x="10128079" y="0"/>
                </a:lnTo>
                <a:lnTo>
                  <a:pt x="10128079" y="6481971"/>
                </a:lnTo>
                <a:lnTo>
                  <a:pt x="0" y="6481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97790" y="2060027"/>
            <a:ext cx="6126087" cy="7198273"/>
            <a:chOff x="0" y="0"/>
            <a:chExt cx="1613455" cy="18958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3455" cy="1895842"/>
            </a:xfrm>
            <a:custGeom>
              <a:avLst/>
              <a:gdLst/>
              <a:ahLst/>
              <a:cxnLst/>
              <a:rect r="r" b="b" t="t" l="l"/>
              <a:pathLst>
                <a:path h="1895842" w="1613455">
                  <a:moveTo>
                    <a:pt x="0" y="0"/>
                  </a:moveTo>
                  <a:lnTo>
                    <a:pt x="1613455" y="0"/>
                  </a:lnTo>
                  <a:lnTo>
                    <a:pt x="1613455" y="1895842"/>
                  </a:lnTo>
                  <a:lnTo>
                    <a:pt x="0" y="1895842"/>
                  </a:lnTo>
                  <a:close/>
                </a:path>
              </a:pathLst>
            </a:custGeom>
            <a:solidFill>
              <a:srgbClr val="5A27B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13455" cy="194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1. Choisir un décalage k (exemple : 3).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2. Pour chaque caractère du texte :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- Si c'est une lettre (A-Z ou a-z) :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     - Convertir en position 0-25.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     - Nouvelle position = (position + k) modulo 26.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     - Reconvertir en lettre (même casse).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- Sinon, garder le caractère inchangé.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3. Assembler le texte chiffré.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4. Pour déchiffrer : même méthode avec -k (ou 26 - k).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230599" y="933450"/>
            <a:ext cx="4360541" cy="91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ETAPES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35745"/>
            <a:ext cx="7639616" cy="6675534"/>
          </a:xfrm>
          <a:custGeom>
            <a:avLst/>
            <a:gdLst/>
            <a:ahLst/>
            <a:cxnLst/>
            <a:rect r="r" b="b" t="t" l="l"/>
            <a:pathLst>
              <a:path h="6675534" w="7639616">
                <a:moveTo>
                  <a:pt x="0" y="0"/>
                </a:moveTo>
                <a:lnTo>
                  <a:pt x="7639616" y="0"/>
                </a:lnTo>
                <a:lnTo>
                  <a:pt x="7639616" y="6675534"/>
                </a:lnTo>
                <a:lnTo>
                  <a:pt x="0" y="6675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35938" y="4617482"/>
            <a:ext cx="7071437" cy="1528573"/>
          </a:xfrm>
          <a:custGeom>
            <a:avLst/>
            <a:gdLst/>
            <a:ahLst/>
            <a:cxnLst/>
            <a:rect r="r" b="b" t="t" l="l"/>
            <a:pathLst>
              <a:path h="1528573" w="7071437">
                <a:moveTo>
                  <a:pt x="0" y="0"/>
                </a:moveTo>
                <a:lnTo>
                  <a:pt x="7071437" y="0"/>
                </a:lnTo>
                <a:lnTo>
                  <a:pt x="7071437" y="1528573"/>
                </a:lnTo>
                <a:lnTo>
                  <a:pt x="0" y="1528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1691" y="4679853"/>
            <a:ext cx="1602407" cy="1466202"/>
          </a:xfrm>
          <a:custGeom>
            <a:avLst/>
            <a:gdLst/>
            <a:ahLst/>
            <a:cxnLst/>
            <a:rect r="r" b="b" t="t" l="l"/>
            <a:pathLst>
              <a:path h="1466202" w="1602407">
                <a:moveTo>
                  <a:pt x="0" y="0"/>
                </a:moveTo>
                <a:lnTo>
                  <a:pt x="1602407" y="0"/>
                </a:lnTo>
                <a:lnTo>
                  <a:pt x="1602407" y="1466202"/>
                </a:lnTo>
                <a:lnTo>
                  <a:pt x="0" y="1466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79661" y="2665829"/>
            <a:ext cx="4360541" cy="91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RESULTATS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2649" y="1088953"/>
            <a:ext cx="1536168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03. ALGORITHME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DE VIGENÈRE — PRINCIPE &amp; FORMULE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156" y="2900437"/>
            <a:ext cx="15361688" cy="485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Substitution poly-alphabétique :</a:t>
            </a: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contrairement à César, chaque lettre est chiffrée avec un décalage différent selon sa position dans la clé.</a:t>
            </a:r>
          </a:p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La clé est répétée sur toute la longueur du message — si la clé est KEY et le message fait </a:t>
            </a:r>
            <a:r>
              <a:rPr lang="en-US" sz="3932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9 lettres</a:t>
            </a: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, on obtient </a:t>
            </a:r>
            <a:r>
              <a:rPr lang="en-US" sz="3932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KEY KEY KEY</a:t>
            </a: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.</a:t>
            </a:r>
          </a:p>
          <a:p>
            <a:pPr algn="l" marL="848973" indent="-424486" lvl="1">
              <a:lnSpc>
                <a:spcPts val="5505"/>
              </a:lnSpc>
              <a:buFont typeface="Arial"/>
              <a:buChar char="•"/>
            </a:pP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Formule : </a:t>
            </a:r>
            <a:r>
              <a:rPr lang="en-US" sz="3932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Ci = (Pi + Ki) mod 26</a:t>
            </a:r>
            <a:r>
              <a:rPr lang="en-US" sz="3932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— Pi = position de la lettre du message — Ki = position de la lettre de la clé (mod n = longueur de la clé)</a:t>
            </a:r>
          </a:p>
          <a:p>
            <a:pPr algn="just">
              <a:lnSpc>
                <a:spcPts val="550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2649" y="1088953"/>
            <a:ext cx="1536168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03. ALGORITHME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DE VIGENÈRE — PRINCIPE &amp; FORMULE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162061"/>
            <a:ext cx="4896594" cy="4562839"/>
            <a:chOff x="0" y="0"/>
            <a:chExt cx="1289638" cy="1201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9638" cy="1201735"/>
            </a:xfrm>
            <a:custGeom>
              <a:avLst/>
              <a:gdLst/>
              <a:ahLst/>
              <a:cxnLst/>
              <a:rect r="r" b="b" t="t" l="l"/>
              <a:pathLst>
                <a:path h="1201735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41715"/>
                  </a:lnTo>
                  <a:lnTo>
                    <a:pt x="160020" y="1201735"/>
                  </a:lnTo>
                  <a:lnTo>
                    <a:pt x="1129618" y="1201735"/>
                  </a:lnTo>
                  <a:lnTo>
                    <a:pt x="1289638" y="1041715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1162638" cy="1112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61118" y="3829050"/>
            <a:ext cx="2031757" cy="876706"/>
            <a:chOff x="0" y="0"/>
            <a:chExt cx="535113" cy="2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113" cy="230902"/>
            </a:xfrm>
            <a:custGeom>
              <a:avLst/>
              <a:gdLst/>
              <a:ahLst/>
              <a:cxnLst/>
              <a:rect r="r" b="b" t="t" l="l"/>
              <a:pathLst>
                <a:path h="230902" w="535113">
                  <a:moveTo>
                    <a:pt x="30484" y="0"/>
                  </a:moveTo>
                  <a:lnTo>
                    <a:pt x="504629" y="0"/>
                  </a:lnTo>
                  <a:cubicBezTo>
                    <a:pt x="521465" y="0"/>
                    <a:pt x="535113" y="13648"/>
                    <a:pt x="535113" y="30484"/>
                  </a:cubicBezTo>
                  <a:lnTo>
                    <a:pt x="535113" y="200418"/>
                  </a:lnTo>
                  <a:cubicBezTo>
                    <a:pt x="535113" y="217254"/>
                    <a:pt x="521465" y="230902"/>
                    <a:pt x="504629" y="230902"/>
                  </a:cubicBezTo>
                  <a:lnTo>
                    <a:pt x="30484" y="230902"/>
                  </a:lnTo>
                  <a:cubicBezTo>
                    <a:pt x="13648" y="230902"/>
                    <a:pt x="0" y="217254"/>
                    <a:pt x="0" y="200418"/>
                  </a:cubicBezTo>
                  <a:lnTo>
                    <a:pt x="0" y="30484"/>
                  </a:lnTo>
                  <a:cubicBezTo>
                    <a:pt x="0" y="13648"/>
                    <a:pt x="13648" y="0"/>
                    <a:pt x="30484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535113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PRINCIPE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95703" y="4162061"/>
            <a:ext cx="4896594" cy="4562839"/>
            <a:chOff x="0" y="0"/>
            <a:chExt cx="1289638" cy="1201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638" cy="1201735"/>
            </a:xfrm>
            <a:custGeom>
              <a:avLst/>
              <a:gdLst/>
              <a:ahLst/>
              <a:cxnLst/>
              <a:rect r="r" b="b" t="t" l="l"/>
              <a:pathLst>
                <a:path h="1201735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41715"/>
                  </a:lnTo>
                  <a:lnTo>
                    <a:pt x="160020" y="1201735"/>
                  </a:lnTo>
                  <a:lnTo>
                    <a:pt x="1129618" y="1201735"/>
                  </a:lnTo>
                  <a:lnTo>
                    <a:pt x="1289638" y="1041715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63500" y="25400"/>
              <a:ext cx="1162638" cy="1112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28122" y="3829050"/>
            <a:ext cx="2031757" cy="876706"/>
            <a:chOff x="0" y="0"/>
            <a:chExt cx="535113" cy="230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5113" cy="230902"/>
            </a:xfrm>
            <a:custGeom>
              <a:avLst/>
              <a:gdLst/>
              <a:ahLst/>
              <a:cxnLst/>
              <a:rect r="r" b="b" t="t" l="l"/>
              <a:pathLst>
                <a:path h="230902" w="535113">
                  <a:moveTo>
                    <a:pt x="30484" y="0"/>
                  </a:moveTo>
                  <a:lnTo>
                    <a:pt x="504629" y="0"/>
                  </a:lnTo>
                  <a:cubicBezTo>
                    <a:pt x="521465" y="0"/>
                    <a:pt x="535113" y="13648"/>
                    <a:pt x="535113" y="30484"/>
                  </a:cubicBezTo>
                  <a:lnTo>
                    <a:pt x="535113" y="200418"/>
                  </a:lnTo>
                  <a:cubicBezTo>
                    <a:pt x="535113" y="217254"/>
                    <a:pt x="521465" y="230902"/>
                    <a:pt x="504629" y="230902"/>
                  </a:cubicBezTo>
                  <a:lnTo>
                    <a:pt x="30484" y="230902"/>
                  </a:lnTo>
                  <a:cubicBezTo>
                    <a:pt x="13648" y="230902"/>
                    <a:pt x="0" y="217254"/>
                    <a:pt x="0" y="200418"/>
                  </a:cubicBezTo>
                  <a:lnTo>
                    <a:pt x="0" y="30484"/>
                  </a:lnTo>
                  <a:cubicBezTo>
                    <a:pt x="0" y="13648"/>
                    <a:pt x="13648" y="0"/>
                    <a:pt x="30484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5113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CLÉ RÉPÉTÉE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62706" y="4162061"/>
            <a:ext cx="4896594" cy="4479364"/>
            <a:chOff x="0" y="0"/>
            <a:chExt cx="1289638" cy="1179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9638" cy="1179750"/>
            </a:xfrm>
            <a:custGeom>
              <a:avLst/>
              <a:gdLst/>
              <a:ahLst/>
              <a:cxnLst/>
              <a:rect r="r" b="b" t="t" l="l"/>
              <a:pathLst>
                <a:path h="1179750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9730"/>
                  </a:lnTo>
                  <a:lnTo>
                    <a:pt x="160020" y="1179750"/>
                  </a:lnTo>
                  <a:lnTo>
                    <a:pt x="1129618" y="1179750"/>
                  </a:lnTo>
                  <a:lnTo>
                    <a:pt x="1289638" y="1019730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63500" y="25400"/>
              <a:ext cx="1162638" cy="1090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95125" y="3829050"/>
            <a:ext cx="2031757" cy="876706"/>
            <a:chOff x="0" y="0"/>
            <a:chExt cx="535113" cy="230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5113" cy="230902"/>
            </a:xfrm>
            <a:custGeom>
              <a:avLst/>
              <a:gdLst/>
              <a:ahLst/>
              <a:cxnLst/>
              <a:rect r="r" b="b" t="t" l="l"/>
              <a:pathLst>
                <a:path h="230902" w="535113">
                  <a:moveTo>
                    <a:pt x="30484" y="0"/>
                  </a:moveTo>
                  <a:lnTo>
                    <a:pt x="504629" y="0"/>
                  </a:lnTo>
                  <a:cubicBezTo>
                    <a:pt x="521465" y="0"/>
                    <a:pt x="535113" y="13648"/>
                    <a:pt x="535113" y="30484"/>
                  </a:cubicBezTo>
                  <a:lnTo>
                    <a:pt x="535113" y="200418"/>
                  </a:lnTo>
                  <a:cubicBezTo>
                    <a:pt x="535113" y="217254"/>
                    <a:pt x="521465" y="230902"/>
                    <a:pt x="504629" y="230902"/>
                  </a:cubicBezTo>
                  <a:lnTo>
                    <a:pt x="30484" y="230902"/>
                  </a:lnTo>
                  <a:cubicBezTo>
                    <a:pt x="13648" y="230902"/>
                    <a:pt x="0" y="217254"/>
                    <a:pt x="0" y="200418"/>
                  </a:cubicBezTo>
                  <a:lnTo>
                    <a:pt x="0" y="30484"/>
                  </a:lnTo>
                  <a:cubicBezTo>
                    <a:pt x="0" y="13648"/>
                    <a:pt x="13648" y="0"/>
                    <a:pt x="30484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5113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FORMULE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28363" y="5178771"/>
            <a:ext cx="4297268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Substitution </a:t>
            </a:r>
            <a:r>
              <a:rPr lang="en-US" sz="2799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poly-alphabétique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: chaque lettre est chiff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rée avec un décalage différent selon </a:t>
            </a:r>
            <a:r>
              <a:rPr lang="en-US" sz="2799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sa position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dans la clé contrairement à César qui applique toujours le même.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995366" y="5178771"/>
            <a:ext cx="4297268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La clé es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t répétée sur toute la longueur du message. Clé KEY + message</a:t>
            </a:r>
            <a:r>
              <a:rPr lang="en-US" sz="2799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 9 lettres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→ </a:t>
            </a:r>
            <a:r>
              <a:rPr lang="en-US" sz="2799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KEY KEY KEY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Longueur non multiple → la clé se coupe en plein milieu.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03520" y="5178771"/>
            <a:ext cx="3214966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ED99E8"/>
                </a:solidFill>
                <a:latin typeface="Bernier"/>
                <a:ea typeface="Bernier"/>
                <a:cs typeface="Bernier"/>
                <a:sym typeface="Bernier"/>
              </a:rPr>
              <a:t>Ci = (Pi + Ki)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mod 26 Pi = position lettre du message Ki = position lettre de l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a clé (i mod n) n = longueur de la clé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20657" y="2482468"/>
            <a:ext cx="7970592" cy="5322064"/>
          </a:xfrm>
          <a:custGeom>
            <a:avLst/>
            <a:gdLst/>
            <a:ahLst/>
            <a:cxnLst/>
            <a:rect r="r" b="b" t="t" l="l"/>
            <a:pathLst>
              <a:path h="5322064" w="7970592">
                <a:moveTo>
                  <a:pt x="0" y="0"/>
                </a:moveTo>
                <a:lnTo>
                  <a:pt x="7970593" y="0"/>
                </a:lnTo>
                <a:lnTo>
                  <a:pt x="7970593" y="5322064"/>
                </a:lnTo>
                <a:lnTo>
                  <a:pt x="0" y="5322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99997" y="7965046"/>
            <a:ext cx="5011913" cy="1815911"/>
          </a:xfrm>
          <a:custGeom>
            <a:avLst/>
            <a:gdLst/>
            <a:ahLst/>
            <a:cxnLst/>
            <a:rect r="r" b="b" t="t" l="l"/>
            <a:pathLst>
              <a:path h="1815911" w="5011913">
                <a:moveTo>
                  <a:pt x="0" y="0"/>
                </a:moveTo>
                <a:lnTo>
                  <a:pt x="5011913" y="0"/>
                </a:lnTo>
                <a:lnTo>
                  <a:pt x="5011913" y="1815911"/>
                </a:lnTo>
                <a:lnTo>
                  <a:pt x="0" y="1815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2649" y="1088953"/>
            <a:ext cx="1536168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03. ALGORITHME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DE VIGENÈRE — PRINCIPE &amp; FORMULE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75565" y="2324674"/>
            <a:ext cx="6953468" cy="7253432"/>
            <a:chOff x="0" y="0"/>
            <a:chExt cx="1831366" cy="19103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1366" cy="1910369"/>
            </a:xfrm>
            <a:custGeom>
              <a:avLst/>
              <a:gdLst/>
              <a:ahLst/>
              <a:cxnLst/>
              <a:rect r="r" b="b" t="t" l="l"/>
              <a:pathLst>
                <a:path h="1910369" w="1831366">
                  <a:moveTo>
                    <a:pt x="0" y="0"/>
                  </a:moveTo>
                  <a:lnTo>
                    <a:pt x="1831366" y="0"/>
                  </a:lnTo>
                  <a:lnTo>
                    <a:pt x="1831366" y="1910369"/>
                  </a:lnTo>
                  <a:lnTo>
                    <a:pt x="0" y="1910369"/>
                  </a:lnTo>
                  <a:close/>
                </a:path>
              </a:pathLst>
            </a:custGeom>
            <a:solidFill>
              <a:srgbClr val="5A27B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31366" cy="195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1. Choisir un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e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cl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é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(exemple : 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KEY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).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2. Répéter la clé sur toute la longueur du message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3. 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Pour chaque caractère du texte :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— Si c'est une lettre (A-Z ou a-z) :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                       Convertir en position 0-25.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— Nouvelle position = </a:t>
              </a:r>
              <a:r>
                <a:rPr lang="en-US" sz="2499" strike="noStrike" u="none">
                  <a:solidFill>
                    <a:srgbClr val="E9A1EC"/>
                  </a:solidFill>
                  <a:latin typeface="Bernier"/>
                  <a:ea typeface="Bernier"/>
                  <a:cs typeface="Bernier"/>
                  <a:sym typeface="Bernier"/>
                </a:rPr>
                <a:t>(position + valeur clé[i])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modulo 26. — Reconvertir en lettre (même casse).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— Sinon, garder le caractère inchangé.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4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. Assembler le texte chiffré.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5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. Pour déchiffrer : 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(</a:t>
              </a:r>
              <a:r>
                <a:rPr lang="en-US" sz="2499" strike="noStrike" u="none">
                  <a:solidFill>
                    <a:srgbClr val="E9A1EC"/>
                  </a:solidFill>
                  <a:latin typeface="Bernier"/>
                  <a:ea typeface="Bernier"/>
                  <a:cs typeface="Bernier"/>
                  <a:sym typeface="Bernier"/>
                </a:rPr>
                <a:t>po</a:t>
              </a:r>
              <a:r>
                <a:rPr lang="en-US" sz="2499" strike="noStrike" u="none">
                  <a:solidFill>
                    <a:srgbClr val="E9A1EC"/>
                  </a:solidFill>
                  <a:latin typeface="Bernier"/>
                  <a:ea typeface="Bernier"/>
                  <a:cs typeface="Bernier"/>
                  <a:sym typeface="Bernier"/>
                </a:rPr>
                <a:t>sition - valeur</a:t>
              </a:r>
              <a:r>
                <a:rPr lang="en-US" sz="2499" strike="noStrike" u="none">
                  <a:solidFill>
                    <a:srgbClr val="E9A1EC"/>
                  </a:solidFill>
                  <a:latin typeface="Bernier"/>
                  <a:ea typeface="Bernier"/>
                  <a:cs typeface="Bernier"/>
                  <a:sym typeface="Bernier"/>
                </a:rPr>
                <a:t>_</a:t>
              </a:r>
              <a:r>
                <a:rPr lang="en-US" sz="2499" strike="noStrike" u="none">
                  <a:solidFill>
                    <a:srgbClr val="E9A1EC"/>
                  </a:solidFill>
                  <a:latin typeface="Bernier"/>
                  <a:ea typeface="Bernier"/>
                  <a:cs typeface="Bernier"/>
                  <a:sym typeface="Bernier"/>
                </a:rPr>
                <a:t>clé[i]</a:t>
              </a:r>
              <a:r>
                <a:rPr lang="en-US" sz="2499" strike="noStrike" u="none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) modulo 26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230599" y="1123029"/>
            <a:ext cx="4360541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ETAPES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9461" y="689326"/>
            <a:ext cx="9468406" cy="6574582"/>
          </a:xfrm>
          <a:custGeom>
            <a:avLst/>
            <a:gdLst/>
            <a:ahLst/>
            <a:cxnLst/>
            <a:rect r="r" b="b" t="t" l="l"/>
            <a:pathLst>
              <a:path h="6574582" w="9468406">
                <a:moveTo>
                  <a:pt x="0" y="0"/>
                </a:moveTo>
                <a:lnTo>
                  <a:pt x="9468406" y="0"/>
                </a:lnTo>
                <a:lnTo>
                  <a:pt x="9468406" y="6574582"/>
                </a:lnTo>
                <a:lnTo>
                  <a:pt x="0" y="657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73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35938" y="4617482"/>
            <a:ext cx="7071437" cy="1528573"/>
          </a:xfrm>
          <a:custGeom>
            <a:avLst/>
            <a:gdLst/>
            <a:ahLst/>
            <a:cxnLst/>
            <a:rect r="r" b="b" t="t" l="l"/>
            <a:pathLst>
              <a:path h="1528573" w="7071437">
                <a:moveTo>
                  <a:pt x="0" y="0"/>
                </a:moveTo>
                <a:lnTo>
                  <a:pt x="7071437" y="0"/>
                </a:lnTo>
                <a:lnTo>
                  <a:pt x="7071437" y="1528573"/>
                </a:lnTo>
                <a:lnTo>
                  <a:pt x="0" y="1528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01691" y="4679853"/>
            <a:ext cx="1602407" cy="1466202"/>
          </a:xfrm>
          <a:custGeom>
            <a:avLst/>
            <a:gdLst/>
            <a:ahLst/>
            <a:cxnLst/>
            <a:rect r="r" b="b" t="t" l="l"/>
            <a:pathLst>
              <a:path h="1466202" w="1602407">
                <a:moveTo>
                  <a:pt x="0" y="0"/>
                </a:moveTo>
                <a:lnTo>
                  <a:pt x="1602407" y="0"/>
                </a:lnTo>
                <a:lnTo>
                  <a:pt x="1602407" y="1466202"/>
                </a:lnTo>
                <a:lnTo>
                  <a:pt x="0" y="1466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79661" y="2656304"/>
            <a:ext cx="4360541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RESULTATS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71401" y="280624"/>
            <a:ext cx="5843422" cy="3651153"/>
          </a:xfrm>
          <a:custGeom>
            <a:avLst/>
            <a:gdLst/>
            <a:ahLst/>
            <a:cxnLst/>
            <a:rect r="r" b="b" t="t" l="l"/>
            <a:pathLst>
              <a:path h="3651153" w="5843422">
                <a:moveTo>
                  <a:pt x="0" y="0"/>
                </a:moveTo>
                <a:lnTo>
                  <a:pt x="5843422" y="0"/>
                </a:lnTo>
                <a:lnTo>
                  <a:pt x="5843422" y="3651153"/>
                </a:lnTo>
                <a:lnTo>
                  <a:pt x="0" y="3651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1401" y="4379452"/>
            <a:ext cx="5843422" cy="2987449"/>
          </a:xfrm>
          <a:custGeom>
            <a:avLst/>
            <a:gdLst/>
            <a:ahLst/>
            <a:cxnLst/>
            <a:rect r="r" b="b" t="t" l="l"/>
            <a:pathLst>
              <a:path h="2987449" w="5843422">
                <a:moveTo>
                  <a:pt x="0" y="0"/>
                </a:moveTo>
                <a:lnTo>
                  <a:pt x="5843422" y="0"/>
                </a:lnTo>
                <a:lnTo>
                  <a:pt x="5843422" y="2987450"/>
                </a:lnTo>
                <a:lnTo>
                  <a:pt x="0" y="2987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1401" y="7814577"/>
            <a:ext cx="5843422" cy="1749701"/>
          </a:xfrm>
          <a:custGeom>
            <a:avLst/>
            <a:gdLst/>
            <a:ahLst/>
            <a:cxnLst/>
            <a:rect r="r" b="b" t="t" l="l"/>
            <a:pathLst>
              <a:path h="1749701" w="5843422">
                <a:moveTo>
                  <a:pt x="0" y="0"/>
                </a:moveTo>
                <a:lnTo>
                  <a:pt x="5843422" y="0"/>
                </a:lnTo>
                <a:lnTo>
                  <a:pt x="5843422" y="1749701"/>
                </a:lnTo>
                <a:lnTo>
                  <a:pt x="0" y="17497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874" r="0" b="-187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38225"/>
            <a:ext cx="1288351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6711119"/>
            <a:ext cx="4896594" cy="2822974"/>
            <a:chOff x="0" y="0"/>
            <a:chExt cx="1289638" cy="7434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9638" cy="743499"/>
            </a:xfrm>
            <a:custGeom>
              <a:avLst/>
              <a:gdLst/>
              <a:ahLst/>
              <a:cxnLst/>
              <a:rect r="r" b="b" t="t" l="l"/>
              <a:pathLst>
                <a:path h="743499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83479"/>
                  </a:lnTo>
                  <a:lnTo>
                    <a:pt x="160020" y="743499"/>
                  </a:lnTo>
                  <a:lnTo>
                    <a:pt x="1129618" y="743499"/>
                  </a:lnTo>
                  <a:lnTo>
                    <a:pt x="1289638" y="583479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1162638" cy="654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61118" y="6378108"/>
            <a:ext cx="2031757" cy="876706"/>
            <a:chOff x="0" y="0"/>
            <a:chExt cx="535113" cy="2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113" cy="230902"/>
            </a:xfrm>
            <a:custGeom>
              <a:avLst/>
              <a:gdLst/>
              <a:ahLst/>
              <a:cxnLst/>
              <a:rect r="r" b="b" t="t" l="l"/>
              <a:pathLst>
                <a:path h="230902" w="535113">
                  <a:moveTo>
                    <a:pt x="30484" y="0"/>
                  </a:moveTo>
                  <a:lnTo>
                    <a:pt x="504629" y="0"/>
                  </a:lnTo>
                  <a:cubicBezTo>
                    <a:pt x="521465" y="0"/>
                    <a:pt x="535113" y="13648"/>
                    <a:pt x="535113" y="30484"/>
                  </a:cubicBezTo>
                  <a:lnTo>
                    <a:pt x="535113" y="200418"/>
                  </a:lnTo>
                  <a:cubicBezTo>
                    <a:pt x="535113" y="217254"/>
                    <a:pt x="521465" y="230902"/>
                    <a:pt x="504629" y="230902"/>
                  </a:cubicBezTo>
                  <a:lnTo>
                    <a:pt x="30484" y="230902"/>
                  </a:lnTo>
                  <a:cubicBezTo>
                    <a:pt x="13648" y="230902"/>
                    <a:pt x="0" y="217254"/>
                    <a:pt x="0" y="200418"/>
                  </a:cubicBezTo>
                  <a:lnTo>
                    <a:pt x="0" y="30484"/>
                  </a:lnTo>
                  <a:cubicBezTo>
                    <a:pt x="0" y="13648"/>
                    <a:pt x="13648" y="0"/>
                    <a:pt x="30484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535113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FORCE BRUTE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95703" y="6711119"/>
            <a:ext cx="4896594" cy="2822974"/>
            <a:chOff x="0" y="0"/>
            <a:chExt cx="1289638" cy="743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638" cy="743499"/>
            </a:xfrm>
            <a:custGeom>
              <a:avLst/>
              <a:gdLst/>
              <a:ahLst/>
              <a:cxnLst/>
              <a:rect r="r" b="b" t="t" l="l"/>
              <a:pathLst>
                <a:path h="743499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83479"/>
                  </a:lnTo>
                  <a:lnTo>
                    <a:pt x="160020" y="743499"/>
                  </a:lnTo>
                  <a:lnTo>
                    <a:pt x="1129618" y="743499"/>
                  </a:lnTo>
                  <a:lnTo>
                    <a:pt x="1289638" y="583479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63500" y="25400"/>
              <a:ext cx="1162638" cy="654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85950" y="6378034"/>
            <a:ext cx="3716100" cy="876706"/>
            <a:chOff x="0" y="0"/>
            <a:chExt cx="978726" cy="230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8726" cy="230902"/>
            </a:xfrm>
            <a:custGeom>
              <a:avLst/>
              <a:gdLst/>
              <a:ahLst/>
              <a:cxnLst/>
              <a:rect r="r" b="b" t="t" l="l"/>
              <a:pathLst>
                <a:path h="230902" w="978726">
                  <a:moveTo>
                    <a:pt x="16667" y="0"/>
                  </a:moveTo>
                  <a:lnTo>
                    <a:pt x="962059" y="0"/>
                  </a:lnTo>
                  <a:cubicBezTo>
                    <a:pt x="966479" y="0"/>
                    <a:pt x="970719" y="1756"/>
                    <a:pt x="973844" y="4882"/>
                  </a:cubicBezTo>
                  <a:cubicBezTo>
                    <a:pt x="976970" y="8007"/>
                    <a:pt x="978726" y="12246"/>
                    <a:pt x="978726" y="16667"/>
                  </a:cubicBezTo>
                  <a:lnTo>
                    <a:pt x="978726" y="214235"/>
                  </a:lnTo>
                  <a:cubicBezTo>
                    <a:pt x="978726" y="218655"/>
                    <a:pt x="976970" y="222895"/>
                    <a:pt x="973844" y="226020"/>
                  </a:cubicBezTo>
                  <a:cubicBezTo>
                    <a:pt x="970719" y="229146"/>
                    <a:pt x="966479" y="230902"/>
                    <a:pt x="962059" y="230902"/>
                  </a:cubicBezTo>
                  <a:lnTo>
                    <a:pt x="16667" y="230902"/>
                  </a:lnTo>
                  <a:cubicBezTo>
                    <a:pt x="12246" y="230902"/>
                    <a:pt x="8007" y="229146"/>
                    <a:pt x="4882" y="226020"/>
                  </a:cubicBezTo>
                  <a:cubicBezTo>
                    <a:pt x="1756" y="222895"/>
                    <a:pt x="0" y="218655"/>
                    <a:pt x="0" y="214235"/>
                  </a:cubicBezTo>
                  <a:lnTo>
                    <a:pt x="0" y="16667"/>
                  </a:lnTo>
                  <a:cubicBezTo>
                    <a:pt x="0" y="12246"/>
                    <a:pt x="1756" y="8007"/>
                    <a:pt x="4882" y="4882"/>
                  </a:cubicBezTo>
                  <a:cubicBezTo>
                    <a:pt x="8007" y="1756"/>
                    <a:pt x="12246" y="0"/>
                    <a:pt x="16667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78726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ANALYSE FRÉQUENTIELLE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62706" y="6558719"/>
            <a:ext cx="4896594" cy="3043609"/>
            <a:chOff x="0" y="0"/>
            <a:chExt cx="1289638" cy="8016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9638" cy="801609"/>
            </a:xfrm>
            <a:custGeom>
              <a:avLst/>
              <a:gdLst/>
              <a:ahLst/>
              <a:cxnLst/>
              <a:rect r="r" b="b" t="t" l="l"/>
              <a:pathLst>
                <a:path h="801609" w="1289638">
                  <a:moveTo>
                    <a:pt x="11296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41589"/>
                  </a:lnTo>
                  <a:lnTo>
                    <a:pt x="160020" y="801609"/>
                  </a:lnTo>
                  <a:lnTo>
                    <a:pt x="1129618" y="801609"/>
                  </a:lnTo>
                  <a:lnTo>
                    <a:pt x="1289638" y="641589"/>
                  </a:lnTo>
                  <a:lnTo>
                    <a:pt x="1289638" y="160020"/>
                  </a:lnTo>
                  <a:lnTo>
                    <a:pt x="1129618" y="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ED99E8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63500" y="25400"/>
              <a:ext cx="1162638" cy="712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95125" y="6225708"/>
            <a:ext cx="2031757" cy="876706"/>
            <a:chOff x="0" y="0"/>
            <a:chExt cx="535113" cy="230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5113" cy="230902"/>
            </a:xfrm>
            <a:custGeom>
              <a:avLst/>
              <a:gdLst/>
              <a:ahLst/>
              <a:cxnLst/>
              <a:rect r="r" b="b" t="t" l="l"/>
              <a:pathLst>
                <a:path h="230902" w="535113">
                  <a:moveTo>
                    <a:pt x="30484" y="0"/>
                  </a:moveTo>
                  <a:lnTo>
                    <a:pt x="504629" y="0"/>
                  </a:lnTo>
                  <a:cubicBezTo>
                    <a:pt x="521465" y="0"/>
                    <a:pt x="535113" y="13648"/>
                    <a:pt x="535113" y="30484"/>
                  </a:cubicBezTo>
                  <a:lnTo>
                    <a:pt x="535113" y="200418"/>
                  </a:lnTo>
                  <a:cubicBezTo>
                    <a:pt x="535113" y="217254"/>
                    <a:pt x="521465" y="230902"/>
                    <a:pt x="504629" y="230902"/>
                  </a:cubicBezTo>
                  <a:lnTo>
                    <a:pt x="30484" y="230902"/>
                  </a:lnTo>
                  <a:cubicBezTo>
                    <a:pt x="13648" y="230902"/>
                    <a:pt x="0" y="217254"/>
                    <a:pt x="0" y="200418"/>
                  </a:cubicBezTo>
                  <a:lnTo>
                    <a:pt x="0" y="30484"/>
                  </a:lnTo>
                  <a:cubicBezTo>
                    <a:pt x="0" y="13648"/>
                    <a:pt x="13648" y="0"/>
                    <a:pt x="30484" y="0"/>
                  </a:cubicBezTo>
                  <a:close/>
                </a:path>
              </a:pathLst>
            </a:custGeom>
            <a:solidFill>
              <a:srgbClr val="E9A1EC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5113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9942E9"/>
                  </a:solidFill>
                  <a:latin typeface="Bernier"/>
                  <a:ea typeface="Bernier"/>
                  <a:cs typeface="Bernier"/>
                  <a:sym typeface="Bernier"/>
                </a:rPr>
                <a:t>RÉSULTAT</a:t>
              </a:r>
            </a:p>
          </p:txBody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592297" y="1996974"/>
            <a:ext cx="6099441" cy="3498566"/>
            <a:chOff x="0" y="0"/>
            <a:chExt cx="7981950" cy="4578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29892" r="0" b="-2989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391104" y="752494"/>
            <a:ext cx="3399217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Cyber Security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0403" y="1930299"/>
            <a:ext cx="9911894" cy="249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5"/>
              </a:lnSpc>
            </a:pPr>
            <a:r>
              <a:rPr lang="en-US" sz="7161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04. A</a:t>
            </a:r>
            <a:r>
              <a:rPr lang="en-US" sz="7161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TTAQUES SUR LE CHIFFRE DE CÉSAR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1635" y="7480104"/>
            <a:ext cx="429726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Seulement 26 clés possibles Un 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ordinateur les teste toutes en moins d'une milliseconde.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5366" y="7281545"/>
            <a:ext cx="4297268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La lettre la plus 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fréquente du chiffré = E Le décalage est trouvé immédiatement sans même tester les 26 clés.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9176" y="7033895"/>
            <a:ext cx="4055780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 Un humain peut le brisér à la m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ain en 5 minutes. Inutilisable pour toute communication sécurisée réelle.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38225"/>
            <a:ext cx="1288351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750249" y="2551787"/>
            <a:ext cx="3934561" cy="2321196"/>
            <a:chOff x="0" y="0"/>
            <a:chExt cx="812800" cy="47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79512"/>
            </a:xfrm>
            <a:custGeom>
              <a:avLst/>
              <a:gdLst/>
              <a:ahLst/>
              <a:cxnLst/>
              <a:rect r="r" b="b" t="t" l="l"/>
              <a:pathLst>
                <a:path h="479512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428712"/>
                  </a:lnTo>
                  <a:lnTo>
                    <a:pt x="406400" y="479512"/>
                  </a:lnTo>
                  <a:lnTo>
                    <a:pt x="0" y="428712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700"/>
              <a:ext cx="812800" cy="466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113434"/>
            <a:ext cx="3160675" cy="876706"/>
            <a:chOff x="0" y="0"/>
            <a:chExt cx="832441" cy="2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2441" cy="230902"/>
            </a:xfrm>
            <a:custGeom>
              <a:avLst/>
              <a:gdLst/>
              <a:ahLst/>
              <a:cxnLst/>
              <a:rect r="r" b="b" t="t" l="l"/>
              <a:pathLst>
                <a:path h="230902" w="832441">
                  <a:moveTo>
                    <a:pt x="19596" y="0"/>
                  </a:moveTo>
                  <a:lnTo>
                    <a:pt x="812846" y="0"/>
                  </a:lnTo>
                  <a:cubicBezTo>
                    <a:pt x="818043" y="0"/>
                    <a:pt x="823027" y="2065"/>
                    <a:pt x="826702" y="5739"/>
                  </a:cubicBezTo>
                  <a:cubicBezTo>
                    <a:pt x="830377" y="9414"/>
                    <a:pt x="832441" y="14399"/>
                    <a:pt x="832441" y="19596"/>
                  </a:cubicBezTo>
                  <a:lnTo>
                    <a:pt x="832441" y="211306"/>
                  </a:lnTo>
                  <a:cubicBezTo>
                    <a:pt x="832441" y="216503"/>
                    <a:pt x="830377" y="221488"/>
                    <a:pt x="826702" y="225162"/>
                  </a:cubicBezTo>
                  <a:cubicBezTo>
                    <a:pt x="823027" y="228837"/>
                    <a:pt x="818043" y="230902"/>
                    <a:pt x="812846" y="230902"/>
                  </a:cubicBezTo>
                  <a:lnTo>
                    <a:pt x="19596" y="230902"/>
                  </a:lnTo>
                  <a:cubicBezTo>
                    <a:pt x="14399" y="230902"/>
                    <a:pt x="9414" y="228837"/>
                    <a:pt x="5739" y="225162"/>
                  </a:cubicBezTo>
                  <a:cubicBezTo>
                    <a:pt x="2065" y="221488"/>
                    <a:pt x="0" y="216503"/>
                    <a:pt x="0" y="211306"/>
                  </a:cubicBezTo>
                  <a:lnTo>
                    <a:pt x="0" y="19596"/>
                  </a:lnTo>
                  <a:cubicBezTo>
                    <a:pt x="0" y="14399"/>
                    <a:pt x="2065" y="9414"/>
                    <a:pt x="5739" y="5739"/>
                  </a:cubicBezTo>
                  <a:cubicBezTo>
                    <a:pt x="9414" y="2065"/>
                    <a:pt x="14399" y="0"/>
                    <a:pt x="19596" y="0"/>
                  </a:cubicBezTo>
                  <a:close/>
                </a:path>
              </a:pathLst>
            </a:custGeom>
            <a:solidFill>
              <a:srgbClr val="ED99E8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32441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Répétitions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24739" y="2551787"/>
            <a:ext cx="3934561" cy="2321196"/>
            <a:chOff x="0" y="0"/>
            <a:chExt cx="812800" cy="479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79512"/>
            </a:xfrm>
            <a:custGeom>
              <a:avLst/>
              <a:gdLst/>
              <a:ahLst/>
              <a:cxnLst/>
              <a:rect r="r" b="b" t="t" l="l"/>
              <a:pathLst>
                <a:path h="479512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428712"/>
                  </a:lnTo>
                  <a:lnTo>
                    <a:pt x="406400" y="479512"/>
                  </a:lnTo>
                  <a:lnTo>
                    <a:pt x="0" y="428712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D99E8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700"/>
              <a:ext cx="812800" cy="466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65910" y="2113434"/>
            <a:ext cx="2946112" cy="876706"/>
            <a:chOff x="0" y="0"/>
            <a:chExt cx="775931" cy="230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5931" cy="230902"/>
            </a:xfrm>
            <a:custGeom>
              <a:avLst/>
              <a:gdLst/>
              <a:ahLst/>
              <a:cxnLst/>
              <a:rect r="r" b="b" t="t" l="l"/>
              <a:pathLst>
                <a:path h="230902" w="775931">
                  <a:moveTo>
                    <a:pt x="21023" y="0"/>
                  </a:moveTo>
                  <a:lnTo>
                    <a:pt x="754908" y="0"/>
                  </a:lnTo>
                  <a:cubicBezTo>
                    <a:pt x="760483" y="0"/>
                    <a:pt x="765831" y="2215"/>
                    <a:pt x="769773" y="6157"/>
                  </a:cubicBezTo>
                  <a:cubicBezTo>
                    <a:pt x="773716" y="10100"/>
                    <a:pt x="775931" y="15447"/>
                    <a:pt x="775931" y="21023"/>
                  </a:cubicBezTo>
                  <a:lnTo>
                    <a:pt x="775931" y="209879"/>
                  </a:lnTo>
                  <a:cubicBezTo>
                    <a:pt x="775931" y="215455"/>
                    <a:pt x="773716" y="220802"/>
                    <a:pt x="769773" y="224744"/>
                  </a:cubicBezTo>
                  <a:cubicBezTo>
                    <a:pt x="765831" y="228687"/>
                    <a:pt x="760483" y="230902"/>
                    <a:pt x="754908" y="230902"/>
                  </a:cubicBezTo>
                  <a:lnTo>
                    <a:pt x="21023" y="230902"/>
                  </a:lnTo>
                  <a:cubicBezTo>
                    <a:pt x="15447" y="230902"/>
                    <a:pt x="10100" y="228687"/>
                    <a:pt x="6157" y="224744"/>
                  </a:cubicBezTo>
                  <a:cubicBezTo>
                    <a:pt x="2215" y="220802"/>
                    <a:pt x="0" y="215455"/>
                    <a:pt x="0" y="209879"/>
                  </a:cubicBezTo>
                  <a:lnTo>
                    <a:pt x="0" y="21023"/>
                  </a:lnTo>
                  <a:cubicBezTo>
                    <a:pt x="0" y="15447"/>
                    <a:pt x="2215" y="10100"/>
                    <a:pt x="6157" y="6157"/>
                  </a:cubicBezTo>
                  <a:cubicBezTo>
                    <a:pt x="10100" y="2215"/>
                    <a:pt x="15447" y="0"/>
                    <a:pt x="21023" y="0"/>
                  </a:cubicBezTo>
                  <a:close/>
                </a:path>
              </a:pathLst>
            </a:custGeom>
            <a:solidFill>
              <a:srgbClr val="5A27B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75931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Longueur de clé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2224619"/>
            <a:ext cx="7293761" cy="6378797"/>
          </a:xfrm>
          <a:custGeom>
            <a:avLst/>
            <a:gdLst/>
            <a:ahLst/>
            <a:cxnLst/>
            <a:rect r="r" b="b" t="t" l="l"/>
            <a:pathLst>
              <a:path h="6378797" w="7293761">
                <a:moveTo>
                  <a:pt x="0" y="0"/>
                </a:moveTo>
                <a:lnTo>
                  <a:pt x="7293761" y="0"/>
                </a:lnTo>
                <a:lnTo>
                  <a:pt x="7293761" y="6378796"/>
                </a:lnTo>
                <a:lnTo>
                  <a:pt x="0" y="6378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97994" y="5720708"/>
            <a:ext cx="6453491" cy="1936047"/>
          </a:xfrm>
          <a:custGeom>
            <a:avLst/>
            <a:gdLst/>
            <a:ahLst/>
            <a:cxnLst/>
            <a:rect r="r" b="b" t="t" l="l"/>
            <a:pathLst>
              <a:path h="1936047" w="6453491">
                <a:moveTo>
                  <a:pt x="0" y="0"/>
                </a:moveTo>
                <a:lnTo>
                  <a:pt x="6453491" y="0"/>
                </a:lnTo>
                <a:lnTo>
                  <a:pt x="6453491" y="1936047"/>
                </a:lnTo>
                <a:lnTo>
                  <a:pt x="0" y="1936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391104" y="752494"/>
            <a:ext cx="3399217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Cyber Security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414578"/>
            <a:ext cx="5984365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04.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ATTAQUES SUR LE CHIFFRE DE VIGENÈRE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8114" y="3185970"/>
            <a:ext cx="263097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Séque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nces répétées dans le texte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76533" y="3185970"/>
            <a:ext cx="263097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Di</a:t>
            </a:r>
            <a:r>
              <a:rPr lang="en-US" sz="2799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stance</a:t>
            </a:r>
            <a:r>
              <a:rPr lang="en-US" sz="2799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entre répétitions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38225"/>
            <a:ext cx="1288351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750249" y="2784204"/>
            <a:ext cx="3934561" cy="2321196"/>
            <a:chOff x="0" y="0"/>
            <a:chExt cx="812800" cy="47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79512"/>
            </a:xfrm>
            <a:custGeom>
              <a:avLst/>
              <a:gdLst/>
              <a:ahLst/>
              <a:cxnLst/>
              <a:rect r="r" b="b" t="t" l="l"/>
              <a:pathLst>
                <a:path h="479512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428712"/>
                  </a:lnTo>
                  <a:lnTo>
                    <a:pt x="406400" y="479512"/>
                  </a:lnTo>
                  <a:lnTo>
                    <a:pt x="0" y="428712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D99E8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700"/>
              <a:ext cx="812800" cy="466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345851"/>
            <a:ext cx="3160675" cy="876706"/>
            <a:chOff x="0" y="0"/>
            <a:chExt cx="832441" cy="2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2441" cy="230902"/>
            </a:xfrm>
            <a:custGeom>
              <a:avLst/>
              <a:gdLst/>
              <a:ahLst/>
              <a:cxnLst/>
              <a:rect r="r" b="b" t="t" l="l"/>
              <a:pathLst>
                <a:path h="230902" w="832441">
                  <a:moveTo>
                    <a:pt x="19596" y="0"/>
                  </a:moveTo>
                  <a:lnTo>
                    <a:pt x="812846" y="0"/>
                  </a:lnTo>
                  <a:cubicBezTo>
                    <a:pt x="818043" y="0"/>
                    <a:pt x="823027" y="2065"/>
                    <a:pt x="826702" y="5739"/>
                  </a:cubicBezTo>
                  <a:cubicBezTo>
                    <a:pt x="830377" y="9414"/>
                    <a:pt x="832441" y="14399"/>
                    <a:pt x="832441" y="19596"/>
                  </a:cubicBezTo>
                  <a:lnTo>
                    <a:pt x="832441" y="211306"/>
                  </a:lnTo>
                  <a:cubicBezTo>
                    <a:pt x="832441" y="216503"/>
                    <a:pt x="830377" y="221488"/>
                    <a:pt x="826702" y="225162"/>
                  </a:cubicBezTo>
                  <a:cubicBezTo>
                    <a:pt x="823027" y="228837"/>
                    <a:pt x="818043" y="230902"/>
                    <a:pt x="812846" y="230902"/>
                  </a:cubicBezTo>
                  <a:lnTo>
                    <a:pt x="19596" y="230902"/>
                  </a:lnTo>
                  <a:cubicBezTo>
                    <a:pt x="14399" y="230902"/>
                    <a:pt x="9414" y="228837"/>
                    <a:pt x="5739" y="225162"/>
                  </a:cubicBezTo>
                  <a:cubicBezTo>
                    <a:pt x="2065" y="221488"/>
                    <a:pt x="0" y="216503"/>
                    <a:pt x="0" y="211306"/>
                  </a:cubicBezTo>
                  <a:lnTo>
                    <a:pt x="0" y="19596"/>
                  </a:lnTo>
                  <a:cubicBezTo>
                    <a:pt x="0" y="14399"/>
                    <a:pt x="2065" y="9414"/>
                    <a:pt x="5739" y="5739"/>
                  </a:cubicBezTo>
                  <a:cubicBezTo>
                    <a:pt x="9414" y="2065"/>
                    <a:pt x="14399" y="0"/>
                    <a:pt x="19596" y="0"/>
                  </a:cubicBezTo>
                  <a:close/>
                </a:path>
              </a:pathLst>
            </a:custGeom>
            <a:solidFill>
              <a:srgbClr val="5A27B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32441" cy="297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Découpage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24739" y="2784204"/>
            <a:ext cx="3934561" cy="2321196"/>
            <a:chOff x="0" y="0"/>
            <a:chExt cx="812800" cy="479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79512"/>
            </a:xfrm>
            <a:custGeom>
              <a:avLst/>
              <a:gdLst/>
              <a:ahLst/>
              <a:cxnLst/>
              <a:rect r="r" b="b" t="t" l="l"/>
              <a:pathLst>
                <a:path h="479512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428712"/>
                  </a:lnTo>
                  <a:lnTo>
                    <a:pt x="406400" y="479512"/>
                  </a:lnTo>
                  <a:lnTo>
                    <a:pt x="0" y="428712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B27B5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700"/>
              <a:ext cx="812800" cy="466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65910" y="2345851"/>
            <a:ext cx="2946112" cy="876706"/>
            <a:chOff x="0" y="0"/>
            <a:chExt cx="775931" cy="230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5931" cy="230902"/>
            </a:xfrm>
            <a:custGeom>
              <a:avLst/>
              <a:gdLst/>
              <a:ahLst/>
              <a:cxnLst/>
              <a:rect r="r" b="b" t="t" l="l"/>
              <a:pathLst>
                <a:path h="230902" w="775931">
                  <a:moveTo>
                    <a:pt x="21023" y="0"/>
                  </a:moveTo>
                  <a:lnTo>
                    <a:pt x="754908" y="0"/>
                  </a:lnTo>
                  <a:cubicBezTo>
                    <a:pt x="760483" y="0"/>
                    <a:pt x="765831" y="2215"/>
                    <a:pt x="769773" y="6157"/>
                  </a:cubicBezTo>
                  <a:cubicBezTo>
                    <a:pt x="773716" y="10100"/>
                    <a:pt x="775931" y="15447"/>
                    <a:pt x="775931" y="21023"/>
                  </a:cubicBezTo>
                  <a:lnTo>
                    <a:pt x="775931" y="209879"/>
                  </a:lnTo>
                  <a:cubicBezTo>
                    <a:pt x="775931" y="215455"/>
                    <a:pt x="773716" y="220802"/>
                    <a:pt x="769773" y="224744"/>
                  </a:cubicBezTo>
                  <a:cubicBezTo>
                    <a:pt x="765831" y="228687"/>
                    <a:pt x="760483" y="230902"/>
                    <a:pt x="754908" y="230902"/>
                  </a:cubicBezTo>
                  <a:lnTo>
                    <a:pt x="21023" y="230902"/>
                  </a:lnTo>
                  <a:cubicBezTo>
                    <a:pt x="15447" y="230902"/>
                    <a:pt x="10100" y="228687"/>
                    <a:pt x="6157" y="224744"/>
                  </a:cubicBezTo>
                  <a:cubicBezTo>
                    <a:pt x="2215" y="220802"/>
                    <a:pt x="0" y="215455"/>
                    <a:pt x="0" y="209879"/>
                  </a:cubicBezTo>
                  <a:lnTo>
                    <a:pt x="0" y="21023"/>
                  </a:lnTo>
                  <a:cubicBezTo>
                    <a:pt x="0" y="15447"/>
                    <a:pt x="2215" y="10100"/>
                    <a:pt x="6157" y="6157"/>
                  </a:cubicBezTo>
                  <a:cubicBezTo>
                    <a:pt x="10100" y="2215"/>
                    <a:pt x="15447" y="0"/>
                    <a:pt x="21023" y="0"/>
                  </a:cubicBezTo>
                  <a:close/>
                </a:path>
              </a:pathLst>
            </a:custGeom>
            <a:solidFill>
              <a:srgbClr val="ED99E8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5931" cy="278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Bernier"/>
                  <a:ea typeface="Bernier"/>
                  <a:cs typeface="Bernier"/>
                  <a:sym typeface="Bernier"/>
                </a:rPr>
                <a:t> Analyse fréquentielle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2224619"/>
            <a:ext cx="7293761" cy="6378797"/>
          </a:xfrm>
          <a:custGeom>
            <a:avLst/>
            <a:gdLst/>
            <a:ahLst/>
            <a:cxnLst/>
            <a:rect r="r" b="b" t="t" l="l"/>
            <a:pathLst>
              <a:path h="6378797" w="7293761">
                <a:moveTo>
                  <a:pt x="0" y="0"/>
                </a:moveTo>
                <a:lnTo>
                  <a:pt x="7293761" y="0"/>
                </a:lnTo>
                <a:lnTo>
                  <a:pt x="7293761" y="6378796"/>
                </a:lnTo>
                <a:lnTo>
                  <a:pt x="0" y="6378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01042" y="5836490"/>
            <a:ext cx="6089670" cy="2184669"/>
          </a:xfrm>
          <a:custGeom>
            <a:avLst/>
            <a:gdLst/>
            <a:ahLst/>
            <a:cxnLst/>
            <a:rect r="r" b="b" t="t" l="l"/>
            <a:pathLst>
              <a:path h="2184669" w="6089670">
                <a:moveTo>
                  <a:pt x="0" y="0"/>
                </a:moveTo>
                <a:lnTo>
                  <a:pt x="6089670" y="0"/>
                </a:lnTo>
                <a:lnTo>
                  <a:pt x="6089670" y="2184670"/>
                </a:lnTo>
                <a:lnTo>
                  <a:pt x="0" y="2184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391104" y="752494"/>
            <a:ext cx="3399217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Cyber Security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414578"/>
            <a:ext cx="5984365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04.</a:t>
            </a: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 ATTAQUES SUR LE CHIFFRE DE VIGENÈRE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2043" y="3519568"/>
            <a:ext cx="263097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Texte s</a:t>
            </a:r>
            <a:r>
              <a:rPr lang="en-US" sz="2799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éparé en colonnes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50636" y="3698807"/>
            <a:ext cx="328276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Ch</a:t>
            </a:r>
            <a:r>
              <a:rPr lang="en-US" sz="27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aque colonne = César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40" r="0" b="-103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9921" y="2011453"/>
            <a:ext cx="13816856" cy="6797817"/>
          </a:xfrm>
          <a:custGeom>
            <a:avLst/>
            <a:gdLst/>
            <a:ahLst/>
            <a:cxnLst/>
            <a:rect r="r" b="b" t="t" l="l"/>
            <a:pathLst>
              <a:path h="6797817" w="13816856">
                <a:moveTo>
                  <a:pt x="0" y="0"/>
                </a:moveTo>
                <a:lnTo>
                  <a:pt x="13816856" y="0"/>
                </a:lnTo>
                <a:lnTo>
                  <a:pt x="13816856" y="6797817"/>
                </a:lnTo>
                <a:lnTo>
                  <a:pt x="0" y="679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6" t="-17223" r="-227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29921" y="355544"/>
            <a:ext cx="14475490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099">
                <a:solidFill>
                  <a:srgbClr val="FFFFFF"/>
                </a:solidFill>
                <a:latin typeface="Bernier"/>
                <a:ea typeface="Bernier"/>
                <a:cs typeface="Bernier"/>
                <a:sym typeface="Bernier"/>
              </a:rPr>
              <a:t>5.TABLEAU COMPARATIF et recapitulatif DES ALGORITHMES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480" r="0" b="-1329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38225"/>
            <a:ext cx="1288351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9369" y="1701627"/>
            <a:ext cx="7187184" cy="8229600"/>
          </a:xfrm>
          <a:custGeom>
            <a:avLst/>
            <a:gdLst/>
            <a:ahLst/>
            <a:cxnLst/>
            <a:rect r="r" b="b" t="t" l="l"/>
            <a:pathLst>
              <a:path h="8229600" w="7187184">
                <a:moveTo>
                  <a:pt x="0" y="0"/>
                </a:moveTo>
                <a:lnTo>
                  <a:pt x="7187184" y="0"/>
                </a:lnTo>
                <a:lnTo>
                  <a:pt x="71871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91104" y="752494"/>
            <a:ext cx="3399217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Cyber Security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2497" y="2948447"/>
            <a:ext cx="1060278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44346" y="4366776"/>
            <a:ext cx="6501506" cy="284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1760" indent="-290880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Bases de la cryptographie moderne</a:t>
            </a:r>
          </a:p>
          <a:p>
            <a:pPr algn="just" marL="581760" indent="-290880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Notion de clé et de</a:t>
            </a:r>
            <a:r>
              <a:rPr lang="en-US" sz="2694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 sécurité</a:t>
            </a:r>
          </a:p>
          <a:p>
            <a:pPr algn="just" marL="581760" indent="-290880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Failles → naissance de AES et RSA</a:t>
            </a:r>
          </a:p>
          <a:p>
            <a:pPr algn="just" marL="581760" indent="-290880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Comprendre leurs limites = comprendre la sécurité moderne</a:t>
            </a:r>
          </a:p>
          <a:p>
            <a:pPr algn="just">
              <a:lnSpc>
                <a:spcPts val="377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9536" y="1806789"/>
            <a:ext cx="7927785" cy="8956043"/>
          </a:xfrm>
          <a:custGeom>
            <a:avLst/>
            <a:gdLst/>
            <a:ahLst/>
            <a:cxnLst/>
            <a:rect r="r" b="b" t="t" l="l"/>
            <a:pathLst>
              <a:path h="8956043" w="7927785">
                <a:moveTo>
                  <a:pt x="0" y="0"/>
                </a:moveTo>
                <a:lnTo>
                  <a:pt x="7927786" y="0"/>
                </a:lnTo>
                <a:lnTo>
                  <a:pt x="7927786" y="8956042"/>
                </a:lnTo>
                <a:lnTo>
                  <a:pt x="0" y="8956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2050" y="3389547"/>
            <a:ext cx="10957976" cy="392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87"/>
              </a:lnSpc>
            </a:pPr>
            <a:r>
              <a:rPr lang="en-US" sz="11276">
                <a:solidFill>
                  <a:srgbClr val="5A27B4"/>
                </a:solidFill>
                <a:latin typeface="Bernier"/>
                <a:ea typeface="Bernier"/>
                <a:cs typeface="Bernier"/>
                <a:sym typeface="Bernier"/>
              </a:rPr>
              <a:t>MERCI POUR VOTRE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177531"/>
            <a:ext cx="10932348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Tha</a:t>
            </a:r>
            <a:r>
              <a:rPr lang="en-US" sz="3399">
                <a:solidFill>
                  <a:srgbClr val="E9A1EC"/>
                </a:solidFill>
                <a:latin typeface="Bernier"/>
                <a:ea typeface="Bernier"/>
                <a:cs typeface="Bernier"/>
                <a:sym typeface="Bernier"/>
              </a:rPr>
              <a:t>nk you for your attention. Stay informed and stay secure.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DAHIROuLlvU</dc:identifier>
  <dcterms:modified xsi:type="dcterms:W3CDTF">2011-08-01T06:04:30Z</dcterms:modified>
  <cp:revision>1</cp:revision>
  <dc:title>Les algorithmes César et Vigenère</dc:title>
</cp:coreProperties>
</file>